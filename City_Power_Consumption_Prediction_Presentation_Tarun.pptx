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  <p:sldMasterId id="2147483672" r:id="rId4"/>
    <p:sldMasterId id="2147483684" r:id="rId5"/>
    <p:sldMasterId id="2147483696" r:id="rId6"/>
  </p:sldMasterIdLst>
  <p:sldIdLst>
    <p:sldId id="256" r:id="rId7"/>
    <p:sldId id="257" r:id="rId8"/>
    <p:sldId id="258" r:id="rId9"/>
    <p:sldId id="259" r:id="rId10"/>
    <p:sldId id="260" r:id="rId11"/>
    <p:sldId id="271" r:id="rId12"/>
    <p:sldId id="272" r:id="rId13"/>
    <p:sldId id="261" r:id="rId14"/>
    <p:sldId id="262" r:id="rId15"/>
    <p:sldId id="263" r:id="rId16"/>
    <p:sldId id="264" r:id="rId17"/>
    <p:sldId id="266" r:id="rId18"/>
    <p:sldId id="267" r:id="rId19"/>
    <p:sldId id="268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3717925"/>
            <a:ext cx="8207375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4940300"/>
            <a:ext cx="8212138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3717925"/>
            <a:ext cx="8207375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4940300"/>
            <a:ext cx="8212138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3717925"/>
            <a:ext cx="8207375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4940300"/>
            <a:ext cx="8212138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3717925"/>
            <a:ext cx="8207375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4940300"/>
            <a:ext cx="8212138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3" Type="http://schemas.openxmlformats.org/officeDocument/2006/relationships/theme" Target="../theme/theme5.xml"/><Relationship Id="rId12" Type="http://schemas.openxmlformats.org/officeDocument/2006/relationships/image" Target="../media/image4.jpe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6350" y="0"/>
            <a:ext cx="91503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City Power Consumption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  <a:p>
            <a:r>
              <a:t>By Tarun Tanwar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		</a:t>
            </a:r>
            <a:br>
              <a:rPr lang="en-US"/>
            </a:br>
            <a:r>
              <a:rPr lang="en-US"/>
              <a:t>		</a:t>
            </a: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Goal: Predict power consumption in a city zone using environmental features.</a:t>
            </a:r>
          </a:p>
          <a:p>
            <a:r>
              <a:t>Models Used: Linear Regression, Random Forest, XGBoost</a:t>
            </a:r>
          </a:p>
          <a:p>
            <a:r>
              <a:t>Dataset: Real-time environmental and air quality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		</a:t>
            </a:r>
            <a:br>
              <a:rPr lang="en-US"/>
            </a:br>
            <a:br>
              <a:rPr lang="en-US"/>
            </a:br>
            <a:r>
              <a:rPr lang="en-US"/>
              <a:t>		</a:t>
            </a:r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</a:p>
          <a:p/>
          <a:p>
            <a:r>
              <a:t>Total Records: ~</a:t>
            </a:r>
            <a:r>
              <a:rPr lang="en-US" altLang="en-US"/>
              <a:t>472499</a:t>
            </a:r>
            <a:endParaRPr lang="en-US" altLang="en-US"/>
          </a:p>
          <a:p>
            <a:r>
              <a:t>Features: Temperature, Humidity, Wind Speed, Cloudiness, Diffuse Flows, AQI etc.</a:t>
            </a:r>
          </a:p>
          <a:p>
            <a:r>
              <a:t>Target: Power Consumption in A Zone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	</a:t>
            </a:r>
            <a:r>
              <a:t> 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Dropped unnecessary columns (e.g., Serial No)</a:t>
            </a:r>
          </a:p>
          <a:p>
            <a:r>
              <a:t>Converted object types to numeric (Temperature, Humidity)</a:t>
            </a:r>
          </a:p>
          <a:p>
            <a:r>
              <a:t>Imputed missing values using Median strategy</a:t>
            </a:r>
          </a:p>
          <a:p>
            <a:pPr marL="0" indent="0">
              <a:buNone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	</a:t>
            </a:r>
            <a:br>
              <a:rPr lang="en-US"/>
            </a:br>
            <a:r>
              <a:rPr lang="en-US"/>
              <a:t>	</a:t>
            </a:r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>
              <a:cs typeface="+mn-lt"/>
            </a:endParaRPr>
          </a:p>
          <a:p>
            <a:endParaRPr>
              <a:cs typeface="+mn-lt"/>
            </a:endParaRPr>
          </a:p>
          <a:p>
            <a:r>
              <a:rPr>
                <a:cs typeface="+mn-lt"/>
              </a:rPr>
              <a:t>Outliers present in AQI and Wind Speed</a:t>
            </a:r>
            <a:endParaRPr>
              <a:cs typeface="+mn-lt"/>
            </a:endParaRPr>
          </a:p>
          <a:p>
            <a:r>
              <a:rPr lang="en-US">
                <a:solidFill>
                  <a:srgbClr val="000000"/>
                </a:solidFill>
                <a:ea typeface="Calibri" panose="020F0502020204030204"/>
                <a:cs typeface="+mn-lt"/>
                <a:sym typeface="+mn-ea"/>
              </a:rPr>
              <a:t>G</a:t>
            </a:r>
            <a:r>
              <a:rPr>
                <a:solidFill>
                  <a:srgbClr val="000000"/>
                </a:solidFill>
                <a:ea typeface="Calibri" panose="020F0502020204030204"/>
                <a:cs typeface="+mn-lt"/>
                <a:sym typeface="+mn-ea"/>
              </a:rPr>
              <a:t>eneral diffuse flows</a:t>
            </a:r>
            <a:r>
              <a:rPr lang="en-US">
                <a:cs typeface="+mn-lt"/>
              </a:rPr>
              <a:t> </a:t>
            </a:r>
            <a:r>
              <a:rPr>
                <a:cs typeface="+mn-lt"/>
              </a:rPr>
              <a:t>and </a:t>
            </a:r>
            <a:r>
              <a:rPr lang="en-US">
                <a:cs typeface="+mn-lt"/>
              </a:rPr>
              <a:t>D</a:t>
            </a:r>
            <a:r>
              <a:rPr>
                <a:solidFill>
                  <a:srgbClr val="000000"/>
                </a:solidFill>
                <a:ea typeface="Calibri" panose="020F0502020204030204"/>
                <a:cs typeface="+mn-lt"/>
                <a:sym typeface="+mn-ea"/>
              </a:rPr>
              <a:t>iffuse flows</a:t>
            </a:r>
            <a:r>
              <a:rPr lang="en-US">
                <a:solidFill>
                  <a:srgbClr val="000000"/>
                </a:solidFill>
                <a:ea typeface="Calibri" panose="020F0502020204030204"/>
                <a:cs typeface="+mn-lt"/>
                <a:sym typeface="+mn-ea"/>
              </a:rPr>
              <a:t> </a:t>
            </a:r>
            <a:r>
              <a:rPr>
                <a:cs typeface="+mn-lt"/>
              </a:rPr>
              <a:t>highly correlated</a:t>
            </a:r>
            <a:endParaRPr>
              <a:cs typeface="+mn-lt"/>
            </a:endParaRPr>
          </a:p>
          <a:p>
            <a:r>
              <a:rPr>
                <a:cs typeface="+mn-lt"/>
              </a:rPr>
              <a:t>Boxplots, Heatmap and Histograms plotted</a:t>
            </a:r>
            <a:endParaRPr>
              <a:cs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13030" y="280670"/>
            <a:ext cx="8308975" cy="297688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13030" y="3429000"/>
            <a:ext cx="8308975" cy="32175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7100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		</a:t>
            </a:r>
            <a:br>
              <a:rPr lang="en-US"/>
            </a:br>
            <a:r>
              <a:rPr lang="en-US"/>
              <a:t>		</a:t>
            </a:r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No encoding needed (all features were numeric)</a:t>
            </a:r>
          </a:p>
          <a:p>
            <a:r>
              <a:t>Feature selection based on importance (XGBoost)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	</a:t>
            </a:r>
            <a:br>
              <a:rPr lang="en-US"/>
            </a:br>
            <a:r>
              <a:rPr lang="en-US"/>
              <a:t>		</a:t>
            </a:r>
            <a:r>
              <a:t>Linear Regression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lang="en-US" altLang="en-US"/>
              <a:t>Train R² Score: 0.32</a:t>
            </a:r>
            <a:endParaRPr lang="en-US" altLang="en-US"/>
          </a:p>
          <a:p>
            <a:r>
              <a:rPr lang="en-US" altLang="en-US"/>
              <a:t>Test R² Score: 0.33</a:t>
            </a:r>
            <a:endParaRPr lang="en-US" altLang="en-US"/>
          </a:p>
          <a:p>
            <a:r>
              <a:rPr lang="en-US" altLang="en-US"/>
              <a:t>Train MSE: 43357740.9</a:t>
            </a:r>
            <a:endParaRPr lang="en-US" altLang="en-US"/>
          </a:p>
          <a:p>
            <a:r>
              <a:rPr lang="en-US" altLang="en-US"/>
              <a:t>Test MSE: 43215505.1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		</a:t>
            </a:r>
            <a:br>
              <a:rPr lang="en-US"/>
            </a:br>
            <a:r>
              <a:rPr lang="en-US"/>
              <a:t>  	  </a:t>
            </a:r>
            <a:r>
              <a:t>Random Forest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Train R² Score: 0.948</a:t>
            </a:r>
          </a:p>
          <a:p>
            <a:r>
              <a:t>Test R² Score: 0.638</a:t>
            </a:r>
          </a:p>
          <a:p>
            <a:r>
              <a:t>Train MSE: 3,323,625</a:t>
            </a:r>
          </a:p>
          <a:p>
            <a:r>
              <a:t>Test MSE: 23,359,474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			</a:t>
            </a:r>
            <a:br>
              <a:rPr lang="en-US"/>
            </a:br>
            <a:r>
              <a:rPr lang="en-US"/>
              <a:t>  		</a:t>
            </a:r>
            <a:r>
              <a:t>XGBoost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Train R² Score: 0.666</a:t>
            </a:r>
          </a:p>
          <a:p>
            <a:r>
              <a:t>Test R² Score: 0.550</a:t>
            </a:r>
          </a:p>
          <a:p>
            <a:r>
              <a:t>Train MSE: 21,442,289</a:t>
            </a:r>
          </a:p>
          <a:p>
            <a:r>
              <a:t>Test MSE: 29,023,393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	</a:t>
            </a:r>
            <a:r>
              <a:t>Model Comparison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Test R²: 0.638 (Random Forest)</a:t>
            </a:r>
          </a:p>
          <a:p>
            <a:r>
              <a:t>Best MSE: 23.3 Million (Random Forest)</a:t>
            </a:r>
          </a:p>
          <a:p>
            <a:r>
              <a:t>Overall moderate performance due to data limits</a:t>
            </a:r>
          </a:p>
          <a:p>
            <a:r>
              <a:t>XGBoost offered stable but not superior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		</a:t>
            </a:r>
            <a:r>
              <a:t>Top Features (XGBoost)</a:t>
            </a: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598805" y="952500"/>
            <a:ext cx="7674610" cy="57340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		</a:t>
            </a:r>
            <a:br>
              <a:rPr lang="en-US"/>
            </a:br>
            <a:r>
              <a:rPr lang="en-US"/>
              <a:t>		</a:t>
            </a:r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lang="en-US"/>
              <a:t>Temperature </a:t>
            </a:r>
            <a:r>
              <a:t>and </a:t>
            </a:r>
            <a:r>
              <a:rPr lang="en-US"/>
              <a:t>Cloudiness </a:t>
            </a:r>
            <a:r>
              <a:t>strongly affect power consumption</a:t>
            </a:r>
          </a:p>
          <a:p>
            <a:r>
              <a:t>High temperatures tend to increase usage</a:t>
            </a:r>
          </a:p>
          <a:p>
            <a:r>
              <a:t>Power grid managers can plan based on climate forecasts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			</a:t>
            </a:r>
            <a:br>
              <a:rPr lang="en-US" sz="60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br>
              <a:rPr lang="en-US" sz="60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en-US" sz="60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		 </a:t>
            </a:r>
            <a:r>
              <a:rPr sz="60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</a:t>
            </a:r>
            <a:endParaRPr sz="600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>
            <a:r>
              <a:t>Project by: Tarun Tanwar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1662</Words>
  <Application>WPS Presentation</Application>
  <PresentationFormat>On-screen Show (4:3)</PresentationFormat>
  <Paragraphs>80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Green Color</vt:lpstr>
      <vt:lpstr>1_Green Color</vt:lpstr>
      <vt:lpstr>2_Green Color</vt:lpstr>
      <vt:lpstr>3_Green Color</vt:lpstr>
      <vt:lpstr>Gear Drives</vt:lpstr>
      <vt:lpstr>City Power Consumption Prediction</vt:lpstr>
      <vt:lpstr>1. Project Overview</vt:lpstr>
      <vt:lpstr>2. Dataset Summary</vt:lpstr>
      <vt:lpstr>3. Data Cleaning &amp; Preprocessing</vt:lpstr>
      <vt:lpstr>4. Exploratory Data Analysis</vt:lpstr>
      <vt:lpstr>PowerPoint 演示文稿</vt:lpstr>
      <vt:lpstr>PowerPoint 演示文稿</vt:lpstr>
      <vt:lpstr>5. Feature Engineering</vt:lpstr>
      <vt:lpstr>6. Linear Regression Results</vt:lpstr>
      <vt:lpstr>7. Random Forest Results</vt:lpstr>
      <vt:lpstr>8. XGBoost Results</vt:lpstr>
      <vt:lpstr>10. Model Comparison &amp; Conclusion</vt:lpstr>
      <vt:lpstr>11. Top Features (XGBoost)</vt:lpstr>
      <vt:lpstr>12. Business Insights</vt:lpstr>
      <vt:lpstr>14.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Tarun Tanwar</cp:lastModifiedBy>
  <cp:revision>4</cp:revision>
  <dcterms:created xsi:type="dcterms:W3CDTF">2013-01-27T09:14:00Z</dcterms:created>
  <dcterms:modified xsi:type="dcterms:W3CDTF">2025-07-11T06:13:12Z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E862E8A63F7F47419F3006E8E1DC7FBE_13</vt:lpwstr>
  </property>
  <property fmtid="{D5CDD505-2E9C-101B-9397-08002B2CF9AE}" pid="3" name="KSOProductBuildVer">
    <vt:lpwstr>1033-12.2.0.21546</vt:lpwstr>
  </property>
</Properties>
</file>